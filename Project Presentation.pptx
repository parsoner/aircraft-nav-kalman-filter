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301" r:id="rId2"/>
    <p:sldId id="317" r:id="rId3"/>
    <p:sldId id="320" r:id="rId4"/>
    <p:sldId id="354" r:id="rId5"/>
    <p:sldId id="348" r:id="rId6"/>
    <p:sldId id="334" r:id="rId7"/>
    <p:sldId id="335" r:id="rId8"/>
    <p:sldId id="336" r:id="rId9"/>
    <p:sldId id="337" r:id="rId10"/>
    <p:sldId id="340" r:id="rId11"/>
    <p:sldId id="339" r:id="rId12"/>
    <p:sldId id="355" r:id="rId13"/>
    <p:sldId id="338" r:id="rId14"/>
    <p:sldId id="341" r:id="rId15"/>
    <p:sldId id="342" r:id="rId16"/>
    <p:sldId id="343" r:id="rId17"/>
    <p:sldId id="344" r:id="rId18"/>
    <p:sldId id="353" r:id="rId19"/>
    <p:sldId id="345" r:id="rId20"/>
    <p:sldId id="352" r:id="rId21"/>
    <p:sldId id="347" r:id="rId22"/>
    <p:sldId id="351" r:id="rId23"/>
    <p:sldId id="356" r:id="rId24"/>
    <p:sldId id="29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4" y="1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175235-FD81-D761-3EFC-848F1E2056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926D1-3B38-2D68-8D2F-EC0DDAE86B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4DC96-5CD5-47A7-A22A-56CBCF9425B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AA73C-76E4-90F2-E764-1FF59A9561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ADAS Implementation: Lane Changing System(LCS)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40451-E833-3D0C-C82F-1520F2A381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4DDB6-00E3-40B5-BACC-A815B17D5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062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9FE33-E735-44B8-BB35-16F877C7D2D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56740-E873-41A4-A752-F498DCCF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184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23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0C6D-E7DC-0520-BEC8-98A120F6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C19EA-D47D-BFC6-B7B7-2FAC6DCAD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43D66-7333-011A-D9F6-E200697D7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3AD85-39D5-EFF2-E1F6-78C556323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83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39D29-F7EC-E76E-9513-282358443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01109-D7C6-4DED-CF36-A3E1ED341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6E659-151F-40E1-FB79-A71B340AD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BAB40-C032-07AD-7EA0-C37AAD0FC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10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1FACA-BEC5-4B40-A436-247D6E14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19E84-1ACE-BE94-D171-982A4D32D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0FF84-13C7-D0EE-5D1C-048E9407C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2D805-455F-085B-8C44-34ACB2918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82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6869-E7BB-8F7B-AB00-D05264B5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D1F5D-3EEB-9B9E-DE76-D6DE99738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770F4-B873-317F-0A87-C8E17D9F1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46B36-ED8A-BDA7-1495-BF919C22E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22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23053-1C8F-3617-B923-4A225738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777F5-9AFB-1BAB-5673-D3109F090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2911C-17ED-19E0-2062-44C35C141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8F4E8-2258-5038-1643-8D8449A22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7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7C3FD-7EB7-D1E7-A5C5-84E59449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0B6EF-535F-CDEF-9F54-E5B071301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D61C9-6934-B1B8-905F-437204842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1D2FA-A86E-4547-D41A-EFF926F92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75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9D91-8AB5-9871-F4E7-D78763BB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E30B1-736C-DF0D-C53D-EA0DA47D0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6272E-CE3C-ED38-2AEA-7878AD656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5C4F4-F1D1-FC05-610E-F62A45140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64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7541C-B6E7-A225-D435-4A0E0615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3D5E7-625A-76B7-18DA-CE5A91969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04CF6-565F-E179-A25C-9699827F2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A0657-00CD-D0CE-2F03-8D41F9E69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27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CEC0-DB4B-BF7B-CF0E-C852BE52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CADF7-DB5B-529D-7099-22B732C6C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B18DF-D74B-F0E4-5808-3EC100893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7E869-A6A3-8C35-3239-DBAD61061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09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D48E-767A-2C76-F7CE-513C9A48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6ECA2-CD4E-2D04-4F20-67AE463A5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D3311-B08E-05AB-2A8C-B284AC9A0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38065-417B-5395-92E3-094EFB666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85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3635F-40DB-DFFB-02F0-422C38FA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AA80F-338B-F3F9-E49E-18CDF22DA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713BB-78EA-E668-D8F9-340B9EB68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26321-ED97-76B2-3AE6-48BAC90E0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36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112DC-FC4F-D391-278C-2169C238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D163E-D8A8-35F1-8BB1-E2E5F20D7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5952B-50DF-68C8-84A9-1D0F71630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61E1F-4638-AB87-C6BD-C3B2C4FE5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818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80169-462A-9CAF-609F-1134CB06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D4E04-AD03-E2D9-748C-385F86E38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FEEA0-92E6-5AAD-2BBC-5ADBF0CC0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34106-A394-647F-4C2E-D88F6BAAD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7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2E928-6DA2-A956-6C9E-79F737B7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0D771-4E40-4331-3461-11D5CBFA4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17FEC-690D-0343-873F-BADFD089C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2C4F8-CE5A-C762-249D-30892000C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34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5D79E-8E8B-D27E-DAFB-33935C98E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4ADA0-C278-DC6E-2FBB-2C0877A23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9436D-1719-90D7-14B6-5FBA49476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788F9-E0CD-CA99-ECC1-50F609DAA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24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FDAF-CEBA-49D5-8C4C-FA75B5C0693C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6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BCCC6-52C3-40EC-A371-E4A6EBE5A210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7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52EA-CEED-45F8-8F70-0842B4F5E5B6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5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913-3A4B-42E3-AAA1-F0D1B1D45321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6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85773-BC8C-46DE-864B-B636FAF2A134}" type="datetime1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6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DC52F-3285-408D-87ED-92F675217B45}" type="datetime1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ABAEE-D79B-472C-A941-B6D6A9E57B45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7587-8017-4AC7-925E-A802CE6E22F0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8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6CF1-001D-4B02-95FC-3373963B84B3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8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CC9A-0B1A-46DF-B231-A99953875171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43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D373-9AA8-41BC-978A-151B123EB9C1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74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B86A-F4EC-4128-8BB3-D13CF81B7957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50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9AD4-C16B-4B12-955C-45B1AC89EE74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90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60AD-CCBC-409C-8C93-C312546AA6EE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5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C266-2B27-49C2-ABEA-7C6B0B5D2FD7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80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44E9-FC29-4D90-AF70-9F773F0F5442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22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9B40-5665-4CC9-8F7F-F2B68727E8D6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39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8B01A57-73A1-4ACE-8DEC-4702ABB87C01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2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80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E0B9-BF40-77DD-76C8-3C693DB69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092" y="355600"/>
            <a:ext cx="8964505" cy="4708639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/>
              <a:t>SYSTEMS FOR AUTONOMOUS AIRCRAFT</a:t>
            </a:r>
            <a:br>
              <a:rPr lang="en-US" sz="4000" b="1" dirty="0"/>
            </a:br>
            <a:r>
              <a:rPr lang="en-US" sz="2800" b="1" dirty="0"/>
              <a:t>FINAL PROJECT</a:t>
            </a:r>
            <a:br>
              <a:rPr lang="en-US" sz="2800" b="1" dirty="0"/>
            </a:br>
            <a:r>
              <a:rPr lang="en-US" sz="2800" b="1" dirty="0"/>
              <a:t>2025-2026</a:t>
            </a:r>
            <a:br>
              <a:rPr lang="en-US" sz="2800" b="1" dirty="0"/>
            </a:br>
            <a:r>
              <a:rPr lang="en-AU" sz="2400" dirty="0"/>
              <a:t>AIRCRAFT NAVIGATION SYSTEM: CLIMB-CRUISE-DESCENT TRAJECTORY</a:t>
            </a:r>
            <a:br>
              <a:rPr lang="en-AU" dirty="0"/>
            </a:br>
            <a:br>
              <a:rPr lang="en-US" dirty="0"/>
            </a:br>
            <a:endParaRPr lang="en-US" sz="4000" b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8757965-EADC-F540-B577-27DF78C35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ipartimento di Ingegneria Industriale - DII - UniversitÃ ...">
            <a:extLst>
              <a:ext uri="{FF2B5EF4-FFF2-40B4-BE49-F238E27FC236}">
                <a16:creationId xmlns:a16="http://schemas.microsoft.com/office/drawing/2014/main" id="{BA8746D7-6C00-B0AD-67F3-4A1BF6FB2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3" y="994313"/>
            <a:ext cx="818032" cy="64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CAB94C-B7AE-F72B-1A94-677D564BC22B}"/>
              </a:ext>
            </a:extLst>
          </p:cNvPr>
          <p:cNvSpPr txBox="1"/>
          <p:nvPr/>
        </p:nvSpPr>
        <p:spPr>
          <a:xfrm>
            <a:off x="6959600" y="4238934"/>
            <a:ext cx="523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buSzPts val="3100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GUIDE: </a:t>
            </a:r>
            <a:r>
              <a:rPr lang="en-US" b="1" dirty="0"/>
              <a:t>Prof. ROBERTO OPROMOLLA</a:t>
            </a:r>
            <a:endParaRPr lang="en-US" sz="18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00151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7C2FE-7339-CA3B-6407-84FE7E5E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972710D-1D57-7C37-8061-A09E9BE1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ED61392-4D09-4044-4852-858431DC5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8782F8D-C254-6424-383B-AB434735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5FF97-A517-FED1-43F8-7938D8EA3228}"/>
              </a:ext>
            </a:extLst>
          </p:cNvPr>
          <p:cNvSpPr txBox="1"/>
          <p:nvPr/>
        </p:nvSpPr>
        <p:spPr>
          <a:xfrm>
            <a:off x="1569558" y="1106496"/>
            <a:ext cx="820475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AU" sz="2000" b="1" dirty="0"/>
              <a:t>True Trajectory</a:t>
            </a:r>
            <a:r>
              <a:rPr lang="en-AU" sz="2000" dirty="0"/>
              <a:t>: We mathematically construct how the aircraft would fly in an ideal world.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AU" sz="20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AU" sz="20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AU" sz="2000" b="1" dirty="0"/>
              <a:t>Sensor Modelling</a:t>
            </a:r>
            <a:r>
              <a:rPr lang="en-AU" sz="2000" dirty="0"/>
              <a:t>: We add "noise" and "error" to this ideal flight, just like in real life (Accelerometer, Gyroscope, Barometer, Magnetometer GPS)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AU" sz="20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AU" sz="20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AU" sz="2000" b="1" dirty="0" err="1"/>
              <a:t>Kalman</a:t>
            </a:r>
            <a:r>
              <a:rPr lang="en-AU" sz="2000" b="1" dirty="0"/>
              <a:t> Filter</a:t>
            </a:r>
            <a:r>
              <a:rPr lang="en-AU" sz="2000" dirty="0"/>
              <a:t>: We fuse GPS (position/velocity) and barometer (altitude) measurements to optimally estimate the aircraft's true state (position and velocity)..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E69F6-B915-4DC9-6C72-EEFC7FAF2B2F}"/>
              </a:ext>
            </a:extLst>
          </p:cNvPr>
          <p:cNvSpPr txBox="1"/>
          <p:nvPr/>
        </p:nvSpPr>
        <p:spPr>
          <a:xfrm>
            <a:off x="4866640" y="335058"/>
            <a:ext cx="428752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99479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65300-4791-EDCA-D353-C6CCE5B2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5A88A4-3829-3E6E-2102-66FE87E4B076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AIRCRAFT TRAJECTORY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1CAC5E-B156-F9C4-B70C-E03294E9D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2B031AD-652C-E278-AAF0-3044AE697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24788B-9631-34F9-45E4-1B11C9B3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7AE1A-D2BF-60F0-6B6E-1FDCFADBB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567" y="747089"/>
            <a:ext cx="6774176" cy="30133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F74A2-6EC7-BCBD-7200-1DE8C2B2417B}"/>
              </a:ext>
            </a:extLst>
          </p:cNvPr>
          <p:cNvSpPr txBox="1"/>
          <p:nvPr/>
        </p:nvSpPr>
        <p:spPr>
          <a:xfrm>
            <a:off x="1295003" y="1052195"/>
            <a:ext cx="4122821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aircraft trajectory is divided into three phases: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Climb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Cruise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Descent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Motion is simulated in the </a:t>
            </a:r>
            <a:r>
              <a:rPr lang="en-US" sz="2000" b="1" dirty="0">
                <a:solidFill>
                  <a:srgbClr val="002060"/>
                </a:solidFill>
              </a:rPr>
              <a:t>NED (North-East-Down) frame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 Maximum altitude: </a:t>
            </a:r>
            <a:r>
              <a:rPr lang="en-US" sz="2000" b="1" dirty="0">
                <a:solidFill>
                  <a:srgbClr val="002060"/>
                </a:solidFill>
              </a:rPr>
              <a:t>1000 m</a:t>
            </a:r>
          </a:p>
          <a:p>
            <a:pPr algn="just">
              <a:lnSpc>
                <a:spcPct val="150000"/>
              </a:lnSpc>
            </a:pPr>
            <a:endParaRPr lang="en-US" sz="2000" b="1" dirty="0">
              <a:solidFill>
                <a:srgbClr val="00206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840C6-C3C1-BDAB-026D-9051356F5CE6}"/>
              </a:ext>
            </a:extLst>
          </p:cNvPr>
          <p:cNvSpPr txBox="1"/>
          <p:nvPr/>
        </p:nvSpPr>
        <p:spPr>
          <a:xfrm>
            <a:off x="5885698" y="3860842"/>
            <a:ext cx="566991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2060"/>
                </a:solidFill>
              </a:rPr>
              <a:t>Trajectory Characteristics</a:t>
            </a:r>
          </a:p>
          <a:p>
            <a:pPr marL="342900" lvl="0" indent="-3429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2060"/>
                </a:solidFill>
              </a:rPr>
              <a:t>Smooth climb and descent</a:t>
            </a:r>
          </a:p>
          <a:p>
            <a:pPr marL="342900" lvl="0" indent="-3429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2060"/>
                </a:solidFill>
              </a:rPr>
              <a:t>Constant forward speed</a:t>
            </a:r>
          </a:p>
          <a:p>
            <a:pPr marL="342900" lvl="0" indent="-3429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2060"/>
                </a:solidFill>
              </a:rPr>
              <a:t>Realistic aircraft-like flight profile</a:t>
            </a:r>
          </a:p>
          <a:p>
            <a:pPr marL="342900" lvl="0" indent="-3429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2060"/>
                </a:solidFill>
              </a:rPr>
              <a:t>Suitable for GPS/GNSS navigation simulation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/>
          <a:srcRect b="43291"/>
          <a:stretch/>
        </p:blipFill>
        <p:spPr>
          <a:xfrm>
            <a:off x="1140502" y="5003077"/>
            <a:ext cx="4277322" cy="142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21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985" y="93134"/>
            <a:ext cx="10018713" cy="879984"/>
          </a:xfrm>
        </p:spPr>
        <p:txBody>
          <a:bodyPr>
            <a:normAutofit fontScale="90000"/>
          </a:bodyPr>
          <a:lstStyle/>
          <a:p>
            <a:r>
              <a:rPr lang="en-AU" dirty="0"/>
              <a:t>Kinematic Transformations: Navigation vs. Body Frame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603" y="1703999"/>
            <a:ext cx="5268060" cy="15527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4</a:t>
            </a:fld>
            <a:endParaRPr lang="en-US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227" y="4431284"/>
            <a:ext cx="3706812" cy="7429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896" y="4125425"/>
            <a:ext cx="3886742" cy="1781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2067" y="1464733"/>
            <a:ext cx="47074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/>
              <a:t>Transformation</a:t>
            </a:r>
            <a:r>
              <a:rPr lang="en-AU" dirty="0"/>
              <a:t>: Converts velocities from the Navigation Frame to the Body Frame.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/>
              <a:t>Reason</a:t>
            </a:r>
            <a:r>
              <a:rPr lang="en-AU" dirty="0"/>
              <a:t>: Sensors are attached to the aircraft, so they measure motion relative to the body (u, w), not the ground.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/>
              <a:t>Math</a:t>
            </a:r>
            <a:r>
              <a:rPr lang="en-AU" dirty="0"/>
              <a:t>: Uses the pitch angle (theta) to align the velocity vectors.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2600" y="5260518"/>
            <a:ext cx="5190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 NED frame, z-axis points DOWN (positive downward). Since altitude h is positive upward, we have: z = -h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2867" y="3311392"/>
            <a:ext cx="451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u</a:t>
            </a:r>
            <a:r>
              <a:rPr lang="en-AU" dirty="0"/>
              <a:t> = </a:t>
            </a:r>
            <a:r>
              <a:rPr lang="en-AU" dirty="0" err="1"/>
              <a:t>vx</a:t>
            </a:r>
            <a:r>
              <a:rPr lang="en-AU" dirty="0"/>
              <a:t> cos</a:t>
            </a:r>
            <a:r>
              <a:rPr lang="el-GR" dirty="0"/>
              <a:t>θ − </a:t>
            </a:r>
            <a:r>
              <a:rPr lang="en-AU" dirty="0" err="1"/>
              <a:t>vz</a:t>
            </a:r>
            <a:r>
              <a:rPr lang="en-AU" dirty="0"/>
              <a:t> sin</a:t>
            </a:r>
            <a:r>
              <a:rPr lang="el-GR" dirty="0"/>
              <a:t>θ, </a:t>
            </a:r>
            <a:r>
              <a:rPr lang="en-AU" b="1" dirty="0"/>
              <a:t>w</a:t>
            </a:r>
            <a:r>
              <a:rPr lang="en-AU" dirty="0"/>
              <a:t> = </a:t>
            </a:r>
            <a:r>
              <a:rPr lang="en-AU" dirty="0" err="1"/>
              <a:t>vx</a:t>
            </a:r>
            <a:r>
              <a:rPr lang="en-AU" dirty="0"/>
              <a:t> sin</a:t>
            </a:r>
            <a:r>
              <a:rPr lang="el-GR" dirty="0"/>
              <a:t>θ + </a:t>
            </a:r>
            <a:r>
              <a:rPr lang="en-AU" dirty="0" err="1"/>
              <a:t>vz</a:t>
            </a:r>
            <a:r>
              <a:rPr lang="en-AU" dirty="0"/>
              <a:t> cos</a:t>
            </a:r>
            <a:r>
              <a:rPr lang="el-GR" dirty="0"/>
              <a:t>θ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0937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132660"/>
          </a:xfrm>
        </p:spPr>
        <p:txBody>
          <a:bodyPr>
            <a:normAutofit/>
          </a:bodyPr>
          <a:lstStyle/>
          <a:p>
            <a:r>
              <a:rPr lang="en-AU" dirty="0"/>
              <a:t>Aircraft Trajectory</a:t>
            </a:r>
            <a:br>
              <a:rPr lang="en-AU" dirty="0"/>
            </a:br>
            <a:r>
              <a:rPr lang="en-AU" sz="1200" dirty="0"/>
              <a:t>cosine smoothing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5</a:t>
            </a:fld>
            <a:endParaRPr lang="en-US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8461" y="789791"/>
            <a:ext cx="3486637" cy="19528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b="8339"/>
          <a:stretch/>
        </p:blipFill>
        <p:spPr>
          <a:xfrm>
            <a:off x="7733262" y="864126"/>
            <a:ext cx="4358126" cy="521193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52" y="3064311"/>
            <a:ext cx="2553056" cy="52394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311" y="3909881"/>
            <a:ext cx="3439005" cy="1305107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5338632" y="1984304"/>
            <a:ext cx="2394630" cy="16039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686708" y="3344981"/>
            <a:ext cx="3046554" cy="10766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4" idx="3"/>
          </p:cNvCxnSpPr>
          <p:nvPr/>
        </p:nvCxnSpPr>
        <p:spPr>
          <a:xfrm>
            <a:off x="4923316" y="4562435"/>
            <a:ext cx="2809946" cy="772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11364" y="547741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Velocity is smooth; acceleration has small jumps at t=0, 40, 80, 120s</a:t>
            </a:r>
          </a:p>
        </p:txBody>
      </p:sp>
    </p:spTree>
    <p:extLst>
      <p:ext uri="{BB962C8B-B14F-4D97-AF65-F5344CB8AC3E}">
        <p14:creationId xmlns:p14="http://schemas.microsoft.com/office/powerpoint/2010/main" val="115587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7E661-ADFC-0187-B8B8-84DF736A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16A0847-F31D-F9B8-622A-5F53FD01CABC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ACCELEROMETER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2C1EF3-7864-59D9-4CD9-6951F5BED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FD3F617-CC14-C135-ABC3-112B85984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A82C565-F0E6-3E35-790E-3C84F147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CE943-B3F7-1194-8FE4-36D8A053371C}"/>
              </a:ext>
            </a:extLst>
          </p:cNvPr>
          <p:cNvSpPr txBox="1"/>
          <p:nvPr/>
        </p:nvSpPr>
        <p:spPr>
          <a:xfrm>
            <a:off x="1295003" y="1052195"/>
            <a:ext cx="4122821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PRINCIPLE OF ACCELEROMETER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F2C29A-54E7-BC4F-2542-05C5729F311D}"/>
                  </a:ext>
                </a:extLst>
              </p:cNvPr>
              <p:cNvSpPr txBox="1"/>
              <p:nvPr/>
            </p:nvSpPr>
            <p:spPr>
              <a:xfrm>
                <a:off x="1295003" y="1536173"/>
                <a:ext cx="10525761" cy="4370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AU" sz="2000" dirty="0">
                    <a:solidFill>
                      <a:srgbClr val="002060"/>
                    </a:solidFill>
                  </a:rPr>
                  <a:t>Accelerometer measures specific force (non-gravitational acceleration) in body axes. Gravity appears as orientation-dependent terms: g sin(</a:t>
                </a:r>
                <a:r>
                  <a:rPr lang="el-GR" sz="2000" dirty="0">
                    <a:solidFill>
                      <a:srgbClr val="002060"/>
                    </a:solidFill>
                  </a:rPr>
                  <a:t>θ), </a:t>
                </a:r>
                <a:r>
                  <a:rPr lang="en-AU" sz="2000" dirty="0">
                    <a:solidFill>
                      <a:srgbClr val="002060"/>
                    </a:solidFill>
                  </a:rPr>
                  <a:t>g cos(</a:t>
                </a:r>
                <a:r>
                  <a:rPr lang="el-GR" sz="2000" dirty="0">
                    <a:solidFill>
                      <a:srgbClr val="002060"/>
                    </a:solidFill>
                  </a:rPr>
                  <a:t>θ) </a:t>
                </a:r>
                <a:r>
                  <a:rPr lang="en-AU" sz="2000" dirty="0">
                    <a:solidFill>
                      <a:srgbClr val="002060"/>
                    </a:solidFill>
                  </a:rPr>
                  <a:t>sin(</a:t>
                </a:r>
                <a:r>
                  <a:rPr lang="el-GR" sz="2000" dirty="0">
                    <a:solidFill>
                      <a:srgbClr val="002060"/>
                    </a:solidFill>
                  </a:rPr>
                  <a:t>φ), </a:t>
                </a:r>
                <a:r>
                  <a:rPr lang="en-AU" sz="2000" dirty="0">
                    <a:solidFill>
                      <a:srgbClr val="002060"/>
                    </a:solidFill>
                  </a:rPr>
                  <a:t>g cos(</a:t>
                </a:r>
                <a:r>
                  <a:rPr lang="el-GR" sz="2000" dirty="0">
                    <a:solidFill>
                      <a:srgbClr val="002060"/>
                    </a:solidFill>
                  </a:rPr>
                  <a:t>θ) </a:t>
                </a:r>
                <a:r>
                  <a:rPr lang="en-AU" sz="2000" dirty="0">
                    <a:solidFill>
                      <a:srgbClr val="002060"/>
                    </a:solidFill>
                  </a:rPr>
                  <a:t>cos(</a:t>
                </a:r>
                <a:r>
                  <a:rPr lang="el-GR" sz="2000" dirty="0">
                    <a:solidFill>
                      <a:srgbClr val="002060"/>
                    </a:solidFill>
                  </a:rPr>
                  <a:t>φ)</a:t>
                </a:r>
                <a:r>
                  <a:rPr lang="en-AU" sz="2000" dirty="0">
                    <a:solidFill>
                      <a:srgbClr val="002060"/>
                    </a:solidFill>
                  </a:rPr>
                  <a:t> 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The accelerometer output consists of three components</a:t>
                </a:r>
                <a:r>
                  <a:rPr lang="en-US" dirty="0"/>
                  <a:t>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dirty="0"/>
                  <a:t>   </a:t>
                </a:r>
              </a:p>
              <a:p>
                <a:pPr algn="just">
                  <a:lnSpc>
                    <a:spcPct val="150000"/>
                  </a:lnSpc>
                </a:pPr>
                <a:endParaRPr lang="en-US" dirty="0"/>
              </a:p>
              <a:p>
                <a:pPr algn="just">
                  <a:lnSpc>
                    <a:spcPct val="150000"/>
                  </a:lnSpc>
                </a:pPr>
                <a:endParaRPr lang="en-US" dirty="0"/>
              </a:p>
              <a:p>
                <a:pPr algn="just">
                  <a:lnSpc>
                    <a:spcPct val="150000"/>
                  </a:lnSpc>
                </a:pPr>
                <a:endParaRPr lang="en-US" dirty="0"/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These represent linear acceleration along the body axes: </a:t>
                </a:r>
                <a:r>
                  <a:rPr lang="en-US" sz="2000" dirty="0" err="1">
                    <a:solidFill>
                      <a:srgbClr val="002060"/>
                    </a:solidFill>
                  </a:rPr>
                  <a:t>u˙,v˙,w</a:t>
                </a:r>
                <a:r>
                  <a:rPr lang="en-US" sz="2000" dirty="0">
                    <a:solidFill>
                      <a:srgbClr val="002060"/>
                    </a:solidFill>
                  </a:rPr>
                  <a:t>˙ 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These arise because the aircraft body frame is rotating: </a:t>
                </a:r>
                <a:r>
                  <a:rPr lang="en-US" sz="2000" dirty="0" err="1">
                    <a:solidFill>
                      <a:srgbClr val="002060"/>
                    </a:solidFill>
                  </a:rPr>
                  <a:t>qw−rv,ru−pw,pv−qu</a:t>
                </a:r>
                <a:r>
                  <a:rPr lang="en-US" sz="2000" dirty="0">
                    <a:solidFill>
                      <a:srgbClr val="00206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= roll, pitch, yaw rates ,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002060"/>
                    </a:solidFill>
                  </a:rPr>
                  <a:t>Roll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 , Pitch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F2C29A-54E7-BC4F-2542-05C5729F3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003" y="1536173"/>
                <a:ext cx="10525761" cy="4370427"/>
              </a:xfrm>
              <a:prstGeom prst="rect">
                <a:avLst/>
              </a:prstGeom>
              <a:blipFill>
                <a:blip r:embed="rId5"/>
                <a:stretch>
                  <a:fillRect l="-521" r="-637" b="-15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883" y="3367082"/>
            <a:ext cx="4906060" cy="11241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8E26F1-4341-9805-EC04-B596F3A9A0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6040" y="3470739"/>
            <a:ext cx="3291784" cy="91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1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DE732-E79D-1A5F-9816-62C194FF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3ED9AD4-0A93-0A79-EB79-0CB802C6BE18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ACCELEROMETER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BAF288-F761-9CB3-A049-62CCC4EC4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E94B2674-1F38-6160-B8CC-10E4E9513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D4A9C73-47DE-654B-1954-46B17E36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9CB8D-E0F8-9435-EEE6-99AAA298F33B}"/>
              </a:ext>
            </a:extLst>
          </p:cNvPr>
          <p:cNvSpPr txBox="1"/>
          <p:nvPr/>
        </p:nvSpPr>
        <p:spPr>
          <a:xfrm>
            <a:off x="1295003" y="1052195"/>
            <a:ext cx="41228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PRINCIPLE OF ACCELEROMETER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9E35D5-72BC-5C1D-1CA0-ABA093B83C7C}"/>
                  </a:ext>
                </a:extLst>
              </p:cNvPr>
              <p:cNvSpPr txBox="1"/>
              <p:nvPr/>
            </p:nvSpPr>
            <p:spPr>
              <a:xfrm>
                <a:off x="6095999" y="1591733"/>
                <a:ext cx="5223257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rgbClr val="002060"/>
                    </a:solidFill>
                  </a:rPr>
                  <a:t>= </a:t>
                </a:r>
                <a:r>
                  <a:rPr lang="en-US" dirty="0">
                    <a:solidFill>
                      <a:srgbClr val="002060"/>
                    </a:solidFill>
                  </a:rPr>
                  <a:t> true acceleration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ar-AE" dirty="0">
                    <a:solidFill>
                      <a:srgbClr val="002060"/>
                    </a:solidFill>
                  </a:rPr>
                  <a:t>=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:r>
                  <a:rPr lang="ar-AE" dirty="0">
                    <a:solidFill>
                      <a:srgbClr val="002060"/>
                    </a:solidFill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</a:rPr>
                  <a:t>  time-varying bias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 </a:t>
                </a:r>
                <a:r>
                  <a:rPr lang="ar-AE" dirty="0">
                    <a:solidFill>
                      <a:srgbClr val="002060"/>
                    </a:solidFill>
                  </a:rPr>
                  <a:t>= </a:t>
                </a:r>
                <a:r>
                  <a:rPr lang="en-US" dirty="0">
                    <a:solidFill>
                      <a:srgbClr val="002060"/>
                    </a:solidFill>
                  </a:rPr>
                  <a:t>white Gaussian noise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>
                    <a:solidFill>
                      <a:srgbClr val="002060"/>
                    </a:solidFill>
                  </a:rPr>
                  <a:t>𝜎𝑟𝑤</a:t>
                </a:r>
                <a:r>
                  <a:rPr lang="en-US" dirty="0">
                    <a:solidFill>
                      <a:srgbClr val="002060"/>
                    </a:solidFill>
                  </a:rPr>
                  <a:t>   ​ = bias random walk strength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𝑤∼𝑁(0,1)</a:t>
                </a:r>
                <a:r>
                  <a:rPr lang="en-US" dirty="0" err="1">
                    <a:solidFill>
                      <a:srgbClr val="002060"/>
                    </a:solidFill>
                  </a:rPr>
                  <a:t>w∼N</a:t>
                </a:r>
                <a:r>
                  <a:rPr lang="en-US" dirty="0">
                    <a:solidFill>
                      <a:srgbClr val="002060"/>
                    </a:solidFill>
                  </a:rPr>
                  <a:t>(0,1)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This creates slow drift over time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9E35D5-72BC-5C1D-1CA0-ABA093B83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591733"/>
                <a:ext cx="5223257" cy="2308324"/>
              </a:xfrm>
              <a:prstGeom prst="rect">
                <a:avLst/>
              </a:prstGeom>
              <a:blipFill>
                <a:blip r:embed="rId5"/>
                <a:stretch>
                  <a:fillRect l="-933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9527CC4-4A13-433D-1D5C-F5691504A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3492" y="2031305"/>
            <a:ext cx="3984332" cy="5981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6DDB5F-AC70-650A-9176-46DF7E138E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3492" y="3429000"/>
            <a:ext cx="3631078" cy="5981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776CEF-8DB9-39AC-5BB9-CDCE859BDE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7540" y="4353278"/>
            <a:ext cx="7856130" cy="5981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0B373E3-5E51-6E4B-189B-1322E1D1D9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6887" y="5354249"/>
            <a:ext cx="7408064" cy="26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3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88F9B-E414-AD69-5B6C-05523064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287CFA-323A-6AF1-7D0B-8DDDC31A5181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ACCELEROMETER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BDAFAF-1879-ACE5-B3E4-00B7E05BA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5CC4B9EE-CB4C-AB6F-E712-A298339F2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0D7BD0A-3D6F-A5C8-F39C-5DED50ED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13530-A5B5-07B9-BCD6-99DF870B191C}"/>
              </a:ext>
            </a:extLst>
          </p:cNvPr>
          <p:cNvSpPr txBox="1"/>
          <p:nvPr/>
        </p:nvSpPr>
        <p:spPr>
          <a:xfrm>
            <a:off x="1295003" y="1052195"/>
            <a:ext cx="41228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RESULT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FF57B-795C-04D6-25EC-339E3D816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933" y="3160990"/>
            <a:ext cx="6580067" cy="352429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9E37AD-7537-E11D-D3F5-9D9F36788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384082"/>
              </p:ext>
            </p:extLst>
          </p:nvPr>
        </p:nvGraphicFramePr>
        <p:xfrm>
          <a:off x="1100893" y="1781386"/>
          <a:ext cx="4511040" cy="2499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95012">
                  <a:extLst>
                    <a:ext uri="{9D8B030D-6E8A-4147-A177-3AD203B41FA5}">
                      <a16:colId xmlns:a16="http://schemas.microsoft.com/office/drawing/2014/main" val="1868727839"/>
                    </a:ext>
                  </a:extLst>
                </a:gridCol>
                <a:gridCol w="993808">
                  <a:extLst>
                    <a:ext uri="{9D8B030D-6E8A-4147-A177-3AD203B41FA5}">
                      <a16:colId xmlns:a16="http://schemas.microsoft.com/office/drawing/2014/main" val="447346726"/>
                    </a:ext>
                  </a:extLst>
                </a:gridCol>
                <a:gridCol w="814206">
                  <a:extLst>
                    <a:ext uri="{9D8B030D-6E8A-4147-A177-3AD203B41FA5}">
                      <a16:colId xmlns:a16="http://schemas.microsoft.com/office/drawing/2014/main" val="1883014467"/>
                    </a:ext>
                  </a:extLst>
                </a:gridCol>
                <a:gridCol w="904007">
                  <a:extLst>
                    <a:ext uri="{9D8B030D-6E8A-4147-A177-3AD203B41FA5}">
                      <a16:colId xmlns:a16="http://schemas.microsoft.com/office/drawing/2014/main" val="1483459564"/>
                    </a:ext>
                  </a:extLst>
                </a:gridCol>
                <a:gridCol w="904007">
                  <a:extLst>
                    <a:ext uri="{9D8B030D-6E8A-4147-A177-3AD203B41FA5}">
                      <a16:colId xmlns:a16="http://schemas.microsoft.com/office/drawing/2014/main" val="2182985365"/>
                    </a:ext>
                  </a:extLst>
                </a:gridCol>
              </a:tblGrid>
              <a:tr h="50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Phase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ax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ay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az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Physical Meaning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42614"/>
                  </a:ext>
                </a:extLst>
              </a:tr>
              <a:tr h="941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Climb (0–40s)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Changing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Nose up, gravity projects into 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056913"/>
                  </a:ext>
                </a:extLst>
              </a:tr>
              <a:tr h="50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Cruise (40–80s)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≈ -9.81 ± 0.2 m/s²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Level flight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474514"/>
                  </a:ext>
                </a:extLst>
              </a:tr>
              <a:tr h="50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Descent (80–120s)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Changing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Nose 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4377135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082566" y="1548496"/>
            <a:ext cx="5638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Accelerometer data is simulated for analysis but </a:t>
            </a:r>
            <a:r>
              <a:rPr lang="en-AU" b="1" dirty="0"/>
              <a:t>not currently used in the </a:t>
            </a:r>
            <a:r>
              <a:rPr lang="en-AU" b="1" dirty="0" err="1"/>
              <a:t>Kalman</a:t>
            </a:r>
            <a:r>
              <a:rPr lang="en-AU" b="1" dirty="0"/>
              <a:t> Filter</a:t>
            </a:r>
            <a:r>
              <a:rPr lang="en-AU" dirty="0"/>
              <a:t>. A future extension would integrate IMU measurements for improved attitude estimation.</a:t>
            </a:r>
          </a:p>
        </p:txBody>
      </p:sp>
    </p:spTree>
    <p:extLst>
      <p:ext uri="{BB962C8B-B14F-4D97-AF65-F5344CB8AC3E}">
        <p14:creationId xmlns:p14="http://schemas.microsoft.com/office/powerpoint/2010/main" val="2498048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13FD5-CBF2-ABD3-09D0-3DDB8020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7A5CA18-C270-1799-90BC-C603BB948060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GYROSCOPE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5C81EB-A075-20AF-F823-97A2B2790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DB56962-F60C-6BEB-A2A6-E06447503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E3FFDF7-F791-40CB-B8F3-8DC8F094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AFE59-CE03-C174-225E-E09712DCFAB4}"/>
              </a:ext>
            </a:extLst>
          </p:cNvPr>
          <p:cNvSpPr txBox="1"/>
          <p:nvPr/>
        </p:nvSpPr>
        <p:spPr>
          <a:xfrm>
            <a:off x="1295003" y="1052195"/>
            <a:ext cx="4122821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PRINCIPLE OF GYROSCOPE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CD85A-F846-6255-07FD-F9BC8C725FF0}"/>
              </a:ext>
            </a:extLst>
          </p:cNvPr>
          <p:cNvSpPr txBox="1"/>
          <p:nvPr/>
        </p:nvSpPr>
        <p:spPr>
          <a:xfrm>
            <a:off x="1442719" y="1617229"/>
            <a:ext cx="1052576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gyroscope measures angular velocity, and this code simulates a realistic gyroscope by adding bias drift and noise to the true aircraft rotation rates.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Role</a:t>
            </a:r>
            <a:r>
              <a:rPr lang="en-AU" sz="2000" dirty="0">
                <a:solidFill>
                  <a:srgbClr val="002060"/>
                </a:solidFill>
              </a:rPr>
              <a:t>: Measures the rotation rates (p, q, r) of the aircraft body.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Simulation Strategy</a:t>
            </a:r>
            <a:r>
              <a:rPr lang="en-AU" sz="2000" dirty="0">
                <a:solidFill>
                  <a:srgbClr val="002060"/>
                </a:solidFill>
              </a:rPr>
              <a:t>: We corrupt the "perfect" data to mimic real-world hardware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Key Challenge</a:t>
            </a:r>
            <a:r>
              <a:rPr lang="en-AU" sz="2000" dirty="0">
                <a:solidFill>
                  <a:srgbClr val="002060"/>
                </a:solidFill>
              </a:rPr>
              <a:t>: The Bias (b) is not constant; it wanders (drifts) over time, creating a "Random Walk" effect that leads to position errors.</a:t>
            </a:r>
            <a:endParaRPr lang="en-US" sz="2000" dirty="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542" y="4754918"/>
            <a:ext cx="3343742" cy="12479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7842" y="5116918"/>
            <a:ext cx="5277587" cy="5239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2067" y="5635579"/>
            <a:ext cx="4002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ω_</a:t>
            </a:r>
            <a:r>
              <a:rPr lang="en-AU" b="1" dirty="0" err="1"/>
              <a:t>meas</a:t>
            </a:r>
            <a:r>
              <a:rPr lang="en-AU" b="1" dirty="0"/>
              <a:t> = </a:t>
            </a:r>
            <a:r>
              <a:rPr lang="el-GR" b="1" dirty="0"/>
              <a:t>ω_</a:t>
            </a:r>
            <a:r>
              <a:rPr lang="en-AU" b="1" dirty="0"/>
              <a:t>true + b(k) + n(k)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372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5424B-7CBD-56A7-5911-9C488BE4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3C31F50-25F3-8268-CF64-E44D90CAD630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GYROSCOPE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64A9B6-4C6D-8BD5-7DF2-CB41EB188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0BB4E0BE-BEA8-3424-03D1-B4F6F7BCE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420D398-2475-F993-89CC-9B28B2F58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5D652-E624-EBB3-488D-FEF9FFB03DC4}"/>
              </a:ext>
            </a:extLst>
          </p:cNvPr>
          <p:cNvSpPr txBox="1"/>
          <p:nvPr/>
        </p:nvSpPr>
        <p:spPr>
          <a:xfrm>
            <a:off x="1399557" y="767715"/>
            <a:ext cx="41228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RESULT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AE756F-1CB3-12FF-461C-F6DA9EA14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778104"/>
              </p:ext>
            </p:extLst>
          </p:nvPr>
        </p:nvGraphicFramePr>
        <p:xfrm>
          <a:off x="814685" y="1274007"/>
          <a:ext cx="4707693" cy="341027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1868727839"/>
                    </a:ext>
                  </a:extLst>
                </a:gridCol>
                <a:gridCol w="916711">
                  <a:extLst>
                    <a:ext uri="{9D8B030D-6E8A-4147-A177-3AD203B41FA5}">
                      <a16:colId xmlns:a16="http://schemas.microsoft.com/office/drawing/2014/main" val="447346726"/>
                    </a:ext>
                  </a:extLst>
                </a:gridCol>
                <a:gridCol w="861289">
                  <a:extLst>
                    <a:ext uri="{9D8B030D-6E8A-4147-A177-3AD203B41FA5}">
                      <a16:colId xmlns:a16="http://schemas.microsoft.com/office/drawing/2014/main" val="1883014467"/>
                    </a:ext>
                  </a:extLst>
                </a:gridCol>
                <a:gridCol w="833120">
                  <a:extLst>
                    <a:ext uri="{9D8B030D-6E8A-4147-A177-3AD203B41FA5}">
                      <a16:colId xmlns:a16="http://schemas.microsoft.com/office/drawing/2014/main" val="1483459564"/>
                    </a:ext>
                  </a:extLst>
                </a:gridCol>
                <a:gridCol w="1039933">
                  <a:extLst>
                    <a:ext uri="{9D8B030D-6E8A-4147-A177-3AD203B41FA5}">
                      <a16:colId xmlns:a16="http://schemas.microsoft.com/office/drawing/2014/main" val="2182985365"/>
                    </a:ext>
                  </a:extLst>
                </a:gridCol>
              </a:tblGrid>
              <a:tr h="50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 (roll)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 (pitch)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 (yaw)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42614"/>
                  </a:ext>
                </a:extLst>
              </a:tr>
              <a:tr h="941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Climb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≠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Aircraft pitching 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056913"/>
                  </a:ext>
                </a:extLst>
              </a:tr>
              <a:tr h="50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Cruise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Aircraft steady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474514"/>
                  </a:ext>
                </a:extLst>
              </a:tr>
              <a:tr h="50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≠ 0 (opposite sign)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Aircraft pitching 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437713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CF95C25-644E-036E-268C-358867EA6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378" y="2186144"/>
            <a:ext cx="6515237" cy="39261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98067" y="6112281"/>
            <a:ext cx="6764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Pitch rate q changes during climb/descent due to attitude transition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6065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CDD36-D901-C106-ADC9-8AA63614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64" y="2946271"/>
            <a:ext cx="6004188" cy="391173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FDE54A1-FDFE-FCBD-CD27-111BD2E90DDF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BAROMETER(ALTMETER)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8540A0-E31B-3C83-BA79-182A12F2E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2A34B2D0-D867-D26C-57FE-335C6F61D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6AAECB-23F8-2C76-D0AF-7ABE64FE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FF55C-D233-46DC-5A67-D602A92445F2}"/>
              </a:ext>
            </a:extLst>
          </p:cNvPr>
          <p:cNvSpPr txBox="1"/>
          <p:nvPr/>
        </p:nvSpPr>
        <p:spPr>
          <a:xfrm>
            <a:off x="1295003" y="623776"/>
            <a:ext cx="4122821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PRINCIPLE OF BAROMETER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2D790-6E05-AD01-CE52-82A7B9A7B275}"/>
              </a:ext>
            </a:extLst>
          </p:cNvPr>
          <p:cNvSpPr txBox="1"/>
          <p:nvPr/>
        </p:nvSpPr>
        <p:spPr>
          <a:xfrm>
            <a:off x="1376072" y="1112235"/>
            <a:ext cx="105257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Concept</a:t>
            </a:r>
            <a:r>
              <a:rPr lang="en-AU" sz="2000" dirty="0">
                <a:solidFill>
                  <a:srgbClr val="002060"/>
                </a:solidFill>
              </a:rPr>
              <a:t>: Uses the inverse relationship between air pressure and altitude.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Equation</a:t>
            </a:r>
            <a:r>
              <a:rPr lang="en-AU" sz="2000" dirty="0">
                <a:solidFill>
                  <a:srgbClr val="002060"/>
                </a:solidFill>
              </a:rPr>
              <a:t>: Based on the Hydrostatic Equation shown on the right.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Sensor Model</a:t>
            </a:r>
            <a:r>
              <a:rPr lang="en-AU" sz="2000" dirty="0">
                <a:solidFill>
                  <a:srgbClr val="002060"/>
                </a:solidFill>
              </a:rPr>
              <a:t>: The code adds "Bias" and "Gaussian Noise" to mimic a real-world sensor.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Output</a:t>
            </a:r>
            <a:r>
              <a:rPr lang="en-US" sz="2000" dirty="0">
                <a:solidFill>
                  <a:srgbClr val="002060"/>
                </a:solidFill>
              </a:rPr>
              <a:t>: Provides a noisy but essential vertical position measurement (</a:t>
            </a:r>
            <a:r>
              <a:rPr lang="en-US" sz="2000" dirty="0" err="1">
                <a:solidFill>
                  <a:srgbClr val="002060"/>
                </a:solidFill>
              </a:rPr>
              <a:t>z_baro</a:t>
            </a:r>
            <a:r>
              <a:rPr lang="en-US" sz="2000" dirty="0">
                <a:solidFill>
                  <a:srgbClr val="002060"/>
                </a:solidFill>
              </a:rPr>
              <a:t>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3648" y="3929886"/>
            <a:ext cx="3229426" cy="8192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6994" y="5124208"/>
            <a:ext cx="4525006" cy="1733792"/>
          </a:xfrm>
          <a:prstGeom prst="rect">
            <a:avLst/>
          </a:prstGeom>
        </p:spPr>
      </p:pic>
      <p:cxnSp>
        <p:nvCxnSpPr>
          <p:cNvPr id="14" name="Elbow Connector 13"/>
          <p:cNvCxnSpPr/>
          <p:nvPr/>
        </p:nvCxnSpPr>
        <p:spPr>
          <a:xfrm rot="10800000">
            <a:off x="5723467" y="4233334"/>
            <a:ext cx="3132666" cy="21167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122333" y="5486400"/>
            <a:ext cx="3158069" cy="159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733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" b="52266"/>
          <a:stretch/>
        </p:blipFill>
        <p:spPr>
          <a:xfrm>
            <a:off x="584202" y="2671307"/>
            <a:ext cx="11453892" cy="29674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56933" y="2124445"/>
            <a:ext cx="975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Barometric altitude closely matches the ground truth</a:t>
            </a:r>
            <a:r>
              <a:rPr lang="en-AU" dirty="0"/>
              <a:t> over climb–cruise–descent.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9DF8A-43B7-E9E3-653D-35452DD20C0E}"/>
              </a:ext>
            </a:extLst>
          </p:cNvPr>
          <p:cNvSpPr txBox="1"/>
          <p:nvPr/>
        </p:nvSpPr>
        <p:spPr>
          <a:xfrm>
            <a:off x="1503680" y="568217"/>
            <a:ext cx="41228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85720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5F157-D47F-E60B-684C-A61FE018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A034A43-D8B7-58AD-7A6E-974E770F8216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BAROMETER</a:t>
            </a:r>
          </a:p>
          <a:p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34F9C5-A79E-ED7E-A234-74155CC45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E4537A56-FC3D-B9D2-6F2C-0D5403B09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8AE6C72-F8C0-7577-15E4-5A880B9C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9DF8A-43B7-E9E3-653D-35452DD20C0E}"/>
              </a:ext>
            </a:extLst>
          </p:cNvPr>
          <p:cNvSpPr txBox="1"/>
          <p:nvPr/>
        </p:nvSpPr>
        <p:spPr>
          <a:xfrm>
            <a:off x="1503680" y="568217"/>
            <a:ext cx="41228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4264" y="4525539"/>
            <a:ext cx="79417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The distribution shows a </a:t>
            </a:r>
            <a:r>
              <a:rPr lang="en-AU" b="1" dirty="0"/>
              <a:t>negative mean</a:t>
            </a:r>
            <a:r>
              <a:rPr lang="en-AU" dirty="0"/>
              <a:t> (</a:t>
            </a:r>
            <a:r>
              <a:rPr lang="en-AU" b="1" dirty="0"/>
              <a:t>μ = −0.42 m</a:t>
            </a:r>
            <a:r>
              <a:rPr lang="en-AU" dirty="0"/>
              <a:t>) with </a:t>
            </a:r>
            <a:r>
              <a:rPr lang="en-AU" b="1" dirty="0"/>
              <a:t>σ = 0.42 m</a:t>
            </a:r>
            <a:r>
              <a:rPr lang="en-AU" dirty="0"/>
              <a:t>, suggesting a </a:t>
            </a:r>
            <a:r>
              <a:rPr lang="en-AU" b="1" dirty="0"/>
              <a:t>consistent offset</a:t>
            </a:r>
            <a:r>
              <a:rPr lang="en-AU" dirty="0"/>
              <a:t> (possible bias / reference mismatch) in addition to random noise..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No clear </a:t>
            </a:r>
            <a:r>
              <a:rPr lang="en-AU" b="1" dirty="0"/>
              <a:t>low-frequency drift</a:t>
            </a:r>
            <a:r>
              <a:rPr lang="en-AU" dirty="0"/>
              <a:t> is observed over 120 s; the error behaves mainly like </a:t>
            </a:r>
            <a:r>
              <a:rPr lang="en-AU" b="1" dirty="0"/>
              <a:t>white noise</a:t>
            </a:r>
            <a:r>
              <a:rPr lang="en-AU" dirty="0"/>
              <a:t> with occasional peaks.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45" y="1166233"/>
            <a:ext cx="11216764" cy="316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47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91174-8C4A-2F2D-0F7B-A4E46A04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8037AD1-01ED-4902-FAE8-A1F2B146C886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MAGNETOMETER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AF395F-DDA3-77DB-8EFC-A6C322C89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0CD00BCB-872A-DCBF-609F-A0E79C26A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7EFAAD0-3781-CFCD-2612-98C0076E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148B5-1EB3-7985-FC1A-7F0EDF3BDC6B}"/>
              </a:ext>
            </a:extLst>
          </p:cNvPr>
          <p:cNvSpPr txBox="1"/>
          <p:nvPr/>
        </p:nvSpPr>
        <p:spPr>
          <a:xfrm>
            <a:off x="1399557" y="598250"/>
            <a:ext cx="41228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PRINCIPLE OF MAGNETOMETER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E6FE40-C72E-5A92-AD64-978E0D2C036A}"/>
              </a:ext>
            </a:extLst>
          </p:cNvPr>
          <p:cNvSpPr txBox="1"/>
          <p:nvPr/>
        </p:nvSpPr>
        <p:spPr>
          <a:xfrm>
            <a:off x="1399557" y="1028041"/>
            <a:ext cx="10525761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magnetometer acts as a digital compass, providing an absolute but noisy measurement of aircraft heading.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so it measures: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Where: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𝐶𝑏𝑛	​ = rotation matrix from navigation frame → body frame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𝑚𝑏	​ = magnetic field in body frame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Heading Angle 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Magnetic Declination is the angle between True North and Magnetic North at a specific location on Earth.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44F289-BFBD-E520-A2F1-9D7AF8963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31" y="2467303"/>
            <a:ext cx="2255569" cy="509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098FB4-8A9B-9D61-1BB9-3BAE17DE6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8720" y="4174111"/>
            <a:ext cx="2867089" cy="5171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7B2D2D-09E8-22E4-1C83-1F1EB1FB9E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8720" y="5164754"/>
            <a:ext cx="3143555" cy="59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44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AE0E8-80BC-081E-6E1E-D9F4CF31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235A0D-25EA-004E-52CE-4B192FEE7C33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MAGNETOMETER</a:t>
            </a:r>
          </a:p>
          <a:p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A678F9-0907-47F9-9F10-C32B6AEB8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82C3A0E-3F52-68A5-4A66-30AF624B7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9EBD27B-CE3F-E7DB-16B4-6BC813BA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C6884-28EE-A5DF-53EB-EEF41036895D}"/>
              </a:ext>
            </a:extLst>
          </p:cNvPr>
          <p:cNvSpPr txBox="1"/>
          <p:nvPr/>
        </p:nvSpPr>
        <p:spPr>
          <a:xfrm>
            <a:off x="1483360" y="548460"/>
            <a:ext cx="41228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C46ACF-7E1B-1328-02DD-C6D04D938FF9}"/>
                  </a:ext>
                </a:extLst>
              </p:cNvPr>
              <p:cNvSpPr txBox="1"/>
              <p:nvPr/>
            </p:nvSpPr>
            <p:spPr>
              <a:xfrm>
                <a:off x="872964" y="1054752"/>
                <a:ext cx="3587524" cy="4508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 algn="just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The magnetometer correctly provides an absolute heading reference, but its output is noisy and biased, resulting in heading errors of a few degrees</a:t>
                </a:r>
              </a:p>
              <a:p>
                <a:pPr marL="800100" lvl="1" indent="-342900" algn="just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Error range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−0.02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2060"/>
                          </a:solidFill>
                        </a:rPr>
                        <m:t>rad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2060"/>
                          </a:solidFill>
                        </a:rPr>
                        <m:t>  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2060"/>
                          </a:solidFill>
                        </a:rPr>
                        <m:t>to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2060"/>
                          </a:solidFill>
                        </a:rPr>
                        <m:t>  </m:t>
                      </m:r>
                      <m:r>
                        <a:rPr lang="en-US" sz="2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+0.08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2060"/>
                          </a:solidFill>
                        </a:rPr>
                        <m:t>rad</m:t>
                      </m:r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  <a:p>
                <a:pPr lvl="1" algn="just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C46ACF-7E1B-1328-02DD-C6D04D938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64" y="1054752"/>
                <a:ext cx="3587524" cy="4508927"/>
              </a:xfrm>
              <a:prstGeom prst="rect">
                <a:avLst/>
              </a:prstGeom>
              <a:blipFill>
                <a:blip r:embed="rId5"/>
                <a:stretch>
                  <a:fillRect r="-169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BE8457C-083A-3F4E-0E63-24AC46D97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488" y="1106496"/>
            <a:ext cx="7468072" cy="44571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72964" y="5105400"/>
            <a:ext cx="404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-0.02 rad = -1.15° +0.08 rad = +4.58°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2272" y="5747309"/>
            <a:ext cx="5363323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34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15A42-DA2F-6E0A-83AC-414B4CEF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849036F-4F2E-33E5-A4B8-3129017232CD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GNSS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0ADBD9-B27D-91D0-17C4-89FA46614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47AD9D85-501E-E703-0D8A-B83974E7D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6E86C43-F930-655D-7F79-D9C6BB0D9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73F20-4CE2-E7D2-7BE4-D59B264A4B55}"/>
              </a:ext>
            </a:extLst>
          </p:cNvPr>
          <p:cNvSpPr txBox="1"/>
          <p:nvPr/>
        </p:nvSpPr>
        <p:spPr>
          <a:xfrm>
            <a:off x="1399557" y="598250"/>
            <a:ext cx="41228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PRINCIPLE OF GNSS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9ABB61-98FF-9ABB-7D00-60EF8B78FF2C}"/>
                  </a:ext>
                </a:extLst>
              </p:cNvPr>
              <p:cNvSpPr txBox="1"/>
              <p:nvPr/>
            </p:nvSpPr>
            <p:spPr>
              <a:xfrm>
                <a:off x="1399557" y="1104542"/>
                <a:ext cx="10525761" cy="55823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A GNSS receiver estimates</a:t>
                </a:r>
                <a:r>
                  <a:rPr lang="en-US" sz="2000" dirty="0"/>
                  <a:t>:</a:t>
                </a:r>
              </a:p>
              <a:p>
                <a:r>
                  <a:rPr lang="en-US" sz="2000" dirty="0">
                    <a:solidFill>
                      <a:srgbClr val="002060"/>
                    </a:solidFill>
                  </a:rPr>
                  <a:t>Position: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>
                    <a:solidFill>
                      <a:srgbClr val="002060"/>
                    </a:solidFill>
                  </a:rPr>
                  <a:t>Velocity: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So the measurement vector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𝑔𝑝𝑠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i="1"/>
                        <m:t>noise</m:t>
                      </m:r>
                    </m:oMath>
                  </m:oMathPara>
                </a14:m>
                <a:endParaRPr lang="en-US" dirty="0"/>
              </a:p>
              <a:p>
                <a:endParaRPr lang="en-US" sz="2000" b="0" dirty="0"/>
              </a:p>
              <a:p>
                <a:r>
                  <a:rPr lang="en-US" sz="2000" dirty="0"/>
                  <a:t>Where:</a:t>
                </a:r>
              </a:p>
              <a:p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,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𝑔𝑝𝑠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  <a:p>
                <a14:m>
                  <m:oMath xmlns:m="http://schemas.openxmlformats.org/officeDocument/2006/math">
                    <m:r>
                      <a:rPr lang="ar-AE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ar-AE" sz="2000" dirty="0"/>
                  <a:t>= </a:t>
                </a:r>
                <a:r>
                  <a:rPr lang="en-US" sz="2000" dirty="0"/>
                  <a:t>measurement noise</a:t>
                </a:r>
              </a:p>
              <a:p>
                <a:endParaRPr lang="en-US" sz="20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9ABB61-98FF-9ABB-7D00-60EF8B78F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557" y="1104542"/>
                <a:ext cx="10525761" cy="5582362"/>
              </a:xfrm>
              <a:prstGeom prst="rect">
                <a:avLst/>
              </a:prstGeom>
              <a:blipFill>
                <a:blip r:embed="rId8"/>
                <a:stretch>
                  <a:fillRect l="-637" t="-5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76E4C2A-9253-3EFD-AB5D-380E2710D8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0633" y="5327039"/>
            <a:ext cx="1539373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47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78CEE-2122-B293-70AD-6E382DDE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BDBB15D-B31C-FBCF-4EB8-371AC8CFEB2F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GNSS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D08719-CCBA-D68F-AB06-A04488620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FF854F9-8F9A-DF6E-EAD1-51B7EC80C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D9EF442-D9DA-D725-F62C-F997D3227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6477E5-2282-866D-ED25-94BE6D02BF55}"/>
              </a:ext>
            </a:extLst>
          </p:cNvPr>
          <p:cNvSpPr txBox="1"/>
          <p:nvPr/>
        </p:nvSpPr>
        <p:spPr>
          <a:xfrm>
            <a:off x="1399557" y="598250"/>
            <a:ext cx="41228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PRINCIPLE OF GNSS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DBBD49-1459-731F-2A32-DFEC025B825F}"/>
              </a:ext>
            </a:extLst>
          </p:cNvPr>
          <p:cNvSpPr txBox="1"/>
          <p:nvPr/>
        </p:nvSpPr>
        <p:spPr>
          <a:xfrm>
            <a:off x="1242250" y="1505561"/>
            <a:ext cx="105257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Kalman Filter combines a motion model with GNSS measurements to get the best estimate of position and velocity</a:t>
            </a:r>
            <a:r>
              <a:rPr lang="en-US" sz="2000" dirty="0"/>
              <a:t>.</a:t>
            </a:r>
          </a:p>
          <a:p>
            <a:endParaRPr lang="en-US" sz="20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68197-36A2-AE01-2E27-5ACFE263E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166" y="2361010"/>
            <a:ext cx="6576031" cy="380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65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178" y="-26818"/>
            <a:ext cx="10018713" cy="834253"/>
          </a:xfrm>
        </p:spPr>
        <p:txBody>
          <a:bodyPr>
            <a:normAutofit/>
          </a:bodyPr>
          <a:lstStyle/>
          <a:p>
            <a:r>
              <a:rPr lang="en-AU" dirty="0"/>
              <a:t>6-State </a:t>
            </a:r>
            <a:r>
              <a:rPr lang="en-AU" dirty="0" err="1"/>
              <a:t>Kalman</a:t>
            </a:r>
            <a:r>
              <a:rPr lang="en-AU" dirty="0"/>
              <a:t> Filter: GPS + Barometer 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2D790-6E05-AD01-CE52-82A7B9A7B275}"/>
              </a:ext>
            </a:extLst>
          </p:cNvPr>
          <p:cNvSpPr txBox="1"/>
          <p:nvPr/>
        </p:nvSpPr>
        <p:spPr>
          <a:xfrm>
            <a:off x="5740400" y="892102"/>
            <a:ext cx="5918201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State Vector (</a:t>
            </a:r>
            <a:r>
              <a:rPr lang="en-AU" sz="2000" b="1" dirty="0" err="1">
                <a:solidFill>
                  <a:srgbClr val="002060"/>
                </a:solidFill>
              </a:rPr>
              <a:t>nx</a:t>
            </a:r>
            <a:r>
              <a:rPr lang="en-AU" sz="2000" b="1" dirty="0">
                <a:solidFill>
                  <a:srgbClr val="002060"/>
                </a:solidFill>
              </a:rPr>
              <a:t>=6): </a:t>
            </a:r>
            <a:r>
              <a:rPr lang="en-AU" sz="2000" dirty="0">
                <a:solidFill>
                  <a:srgbClr val="002060"/>
                </a:solidFill>
              </a:rPr>
              <a:t>Tracks 3D Position (</a:t>
            </a:r>
            <a:r>
              <a:rPr lang="en-AU" sz="2000" dirty="0" err="1">
                <a:solidFill>
                  <a:srgbClr val="002060"/>
                </a:solidFill>
              </a:rPr>
              <a:t>x,y,z</a:t>
            </a:r>
            <a:r>
              <a:rPr lang="en-AU" sz="2000" dirty="0">
                <a:solidFill>
                  <a:srgbClr val="002060"/>
                </a:solidFill>
              </a:rPr>
              <a:t>) and 3D Velocity (</a:t>
            </a:r>
            <a:r>
              <a:rPr lang="en-AU" sz="2000" dirty="0" err="1">
                <a:solidFill>
                  <a:srgbClr val="002060"/>
                </a:solidFill>
              </a:rPr>
              <a:t>v_x</a:t>
            </a:r>
            <a:r>
              <a:rPr lang="en-AU" sz="2000" dirty="0">
                <a:solidFill>
                  <a:srgbClr val="002060"/>
                </a:solidFill>
              </a:rPr>
              <a:t>, </a:t>
            </a:r>
            <a:r>
              <a:rPr lang="en-AU" sz="2000" dirty="0" err="1">
                <a:solidFill>
                  <a:srgbClr val="002060"/>
                </a:solidFill>
              </a:rPr>
              <a:t>v_y</a:t>
            </a:r>
            <a:r>
              <a:rPr lang="en-AU" sz="2000" dirty="0">
                <a:solidFill>
                  <a:srgbClr val="002060"/>
                </a:solidFill>
              </a:rPr>
              <a:t>, </a:t>
            </a:r>
            <a:r>
              <a:rPr lang="en-AU" sz="2000" dirty="0" err="1">
                <a:solidFill>
                  <a:srgbClr val="002060"/>
                </a:solidFill>
              </a:rPr>
              <a:t>v_z</a:t>
            </a:r>
            <a:r>
              <a:rPr lang="en-AU" sz="2000" dirty="0">
                <a:solidFill>
                  <a:srgbClr val="002060"/>
                </a:solidFill>
              </a:rPr>
              <a:t>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Prediction Model (F)</a:t>
            </a:r>
            <a:r>
              <a:rPr lang="en-AU" sz="2000" dirty="0">
                <a:solidFill>
                  <a:srgbClr val="002060"/>
                </a:solidFill>
              </a:rPr>
              <a:t>: Uses physics to predict the next state (x_{k+1} = </a:t>
            </a:r>
            <a:r>
              <a:rPr lang="en-AU" sz="2000" dirty="0" err="1">
                <a:solidFill>
                  <a:srgbClr val="002060"/>
                </a:solidFill>
              </a:rPr>
              <a:t>x_k</a:t>
            </a:r>
            <a:r>
              <a:rPr lang="en-AU" sz="2000" dirty="0">
                <a:solidFill>
                  <a:srgbClr val="002060"/>
                </a:solidFill>
              </a:rPr>
              <a:t> + v*</a:t>
            </a:r>
            <a:r>
              <a:rPr lang="en-AU" sz="2000" dirty="0" err="1">
                <a:solidFill>
                  <a:srgbClr val="002060"/>
                </a:solidFill>
              </a:rPr>
              <a:t>dt</a:t>
            </a:r>
            <a:r>
              <a:rPr lang="en-AU" sz="2000" dirty="0">
                <a:solidFill>
                  <a:srgbClr val="002060"/>
                </a:solidFill>
              </a:rPr>
              <a:t>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Sensor Fusion</a:t>
            </a:r>
            <a:r>
              <a:rPr lang="en-AU" sz="2000" dirty="0">
                <a:solidFill>
                  <a:srgbClr val="002060"/>
                </a:solidFill>
              </a:rPr>
              <a:t>: Combines data from GPS (Position/Velocity) and Barometer (Altitude).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Tuning (Q vs R)</a:t>
            </a:r>
            <a:r>
              <a:rPr lang="en-US" sz="2000" dirty="0">
                <a:solidFill>
                  <a:srgbClr val="002060"/>
                </a:solidFill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Q</a:t>
            </a:r>
            <a:r>
              <a:rPr lang="en-US" sz="2000" dirty="0">
                <a:solidFill>
                  <a:srgbClr val="002060"/>
                </a:solidFill>
              </a:rPr>
              <a:t>: Process Noise (Model uncertainty).</a:t>
            </a:r>
          </a:p>
          <a:p>
            <a:pPr algn="just">
              <a:lnSpc>
                <a:spcPct val="150000"/>
              </a:lnSpc>
            </a:pPr>
            <a:r>
              <a:rPr lang="en-AU" sz="2000" dirty="0">
                <a:solidFill>
                  <a:srgbClr val="002060"/>
                </a:solidFill>
              </a:rPr>
              <a:t>Position: 0.5 m²  - Velocity: 0.1 (m/s)²</a:t>
            </a:r>
            <a:endParaRPr lang="en-US" sz="2000" dirty="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R</a:t>
            </a:r>
            <a:r>
              <a:rPr lang="en-US" sz="2000" dirty="0">
                <a:solidFill>
                  <a:srgbClr val="002060"/>
                </a:solidFill>
              </a:rPr>
              <a:t>: Measurement Noise (Sensor uncertainty).</a:t>
            </a:r>
          </a:p>
          <a:p>
            <a:pPr algn="just">
              <a:lnSpc>
                <a:spcPct val="150000"/>
              </a:lnSpc>
            </a:pPr>
            <a:r>
              <a:rPr lang="en-AU" sz="2000" dirty="0">
                <a:solidFill>
                  <a:srgbClr val="002060"/>
                </a:solidFill>
              </a:rPr>
              <a:t>GPS position: 4 m²  - GPS velocity: 0.058 (m/s)²  - Barometer: 9 m²"</a:t>
            </a:r>
            <a:endParaRPr lang="en-US" sz="2000" dirty="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99" y="740067"/>
            <a:ext cx="2857899" cy="13432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92" y="2545364"/>
            <a:ext cx="3991532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92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772FC-6769-8666-04DA-37FC8B40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A42FA17-9ADF-C9EB-71C0-C37BCFB03855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GPS</a:t>
            </a:r>
          </a:p>
          <a:p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D87C3E-1759-2731-DCD3-63BB3296B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DB30499C-C7CB-8C7C-8AC5-6917C29B9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681E79-D130-BF97-A3D6-44A36BF4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DAC86-E5CA-D7D1-3FAE-66E486759608}"/>
              </a:ext>
            </a:extLst>
          </p:cNvPr>
          <p:cNvSpPr txBox="1"/>
          <p:nvPr/>
        </p:nvSpPr>
        <p:spPr>
          <a:xfrm>
            <a:off x="1503680" y="568217"/>
            <a:ext cx="41228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RESULT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63ED6-20E4-9595-779F-F973DB594926}"/>
              </a:ext>
            </a:extLst>
          </p:cNvPr>
          <p:cNvSpPr txBox="1"/>
          <p:nvPr/>
        </p:nvSpPr>
        <p:spPr>
          <a:xfrm>
            <a:off x="8947820" y="3062296"/>
            <a:ext cx="30591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U" sz="2000" dirty="0"/>
              <a:t>Compared to raw GNSS, KF provides smoother and more accurate position estimates.</a:t>
            </a:r>
            <a:r>
              <a:rPr lang="en-US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52" y="1106496"/>
            <a:ext cx="8714239" cy="540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90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529" y="321733"/>
            <a:ext cx="9580373" cy="6070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44323" y="4666802"/>
            <a:ext cx="2015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/>
              <a:t>Vz</a:t>
            </a:r>
            <a:r>
              <a:rPr lang="en-AU" dirty="0"/>
              <a:t> is harder during climb/descent due to stronger vertical dynamics.</a:t>
            </a:r>
          </a:p>
        </p:txBody>
      </p:sp>
    </p:spTree>
    <p:extLst>
      <p:ext uri="{BB962C8B-B14F-4D97-AF65-F5344CB8AC3E}">
        <p14:creationId xmlns:p14="http://schemas.microsoft.com/office/powerpoint/2010/main" val="2743811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88B64-DC3A-BB88-D232-C74F8412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C29DA0A-244B-FC10-2FE0-FC6170F2D7E6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 err="1"/>
              <a:t>Kalman</a:t>
            </a:r>
            <a:r>
              <a:rPr lang="en-US" sz="3200" b="1" dirty="0"/>
              <a:t> filter Error with Covariance </a:t>
            </a:r>
          </a:p>
          <a:p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7451B3-8F95-7C00-C19A-6856671FF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5BEF7E7B-400C-2386-5699-202F78889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F86CA0-0B30-9B58-A2EA-FDD65F78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464908-3E51-D0CB-CF45-73ECC160D4E6}"/>
              </a:ext>
            </a:extLst>
          </p:cNvPr>
          <p:cNvSpPr txBox="1"/>
          <p:nvPr/>
        </p:nvSpPr>
        <p:spPr>
          <a:xfrm>
            <a:off x="736042" y="3711624"/>
            <a:ext cx="488864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Position Estimation (Error &amp; Covariance)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X</a:t>
            </a:r>
            <a:r>
              <a:rPr lang="en-AU" sz="2000" dirty="0">
                <a:solidFill>
                  <a:srgbClr val="002060"/>
                </a:solidFill>
              </a:rPr>
              <a:t> and </a:t>
            </a:r>
            <a:r>
              <a:rPr lang="en-AU" sz="2000" b="1" dirty="0">
                <a:solidFill>
                  <a:srgbClr val="002060"/>
                </a:solidFill>
              </a:rPr>
              <a:t>Y</a:t>
            </a:r>
            <a:r>
              <a:rPr lang="en-AU" sz="2000" dirty="0">
                <a:solidFill>
                  <a:srgbClr val="002060"/>
                </a:solidFill>
              </a:rPr>
              <a:t>, the mean error is close to zero, and most of the error stays within ±1σ, which indicates the filter is generally consistent in the horizontal plane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24685" y="3647445"/>
            <a:ext cx="6096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Z</a:t>
            </a:r>
            <a:r>
              <a:rPr lang="en-AU" sz="2000" dirty="0">
                <a:solidFill>
                  <a:srgbClr val="002060"/>
                </a:solidFill>
              </a:rPr>
              <a:t>, the mean error is positive (μ ≈-0.02 m), showing a small bias in the vertical direction. The Z error also approaches/exceeds ±1σ more often, which suggests vertical position is more sensitive to model assumptions and sensor noise (e.g., barometer/GPS coupling), and may need tuning (Q/R) or bias </a:t>
            </a:r>
            <a:r>
              <a:rPr lang="en-AU" sz="2000" dirty="0" err="1">
                <a:solidFill>
                  <a:srgbClr val="002060"/>
                </a:solidFill>
              </a:rPr>
              <a:t>modeling</a:t>
            </a:r>
            <a:r>
              <a:rPr lang="en-AU" sz="2000" dirty="0">
                <a:solidFill>
                  <a:srgbClr val="002060"/>
                </a:solidFill>
              </a:rPr>
              <a:t>.</a:t>
            </a: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45" y="653251"/>
            <a:ext cx="11368027" cy="299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70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401715"/>
            <a:ext cx="10018713" cy="370643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Kalman</a:t>
            </a:r>
            <a:r>
              <a:rPr lang="en-US" b="1" dirty="0"/>
              <a:t> filter Error with Covariance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39" y="650850"/>
            <a:ext cx="11144089" cy="30665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464908-3E51-D0CB-CF45-73ECC160D4E6}"/>
              </a:ext>
            </a:extLst>
          </p:cNvPr>
          <p:cNvSpPr txBox="1"/>
          <p:nvPr/>
        </p:nvSpPr>
        <p:spPr>
          <a:xfrm>
            <a:off x="200707" y="4084263"/>
            <a:ext cx="62929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Velocity (Error &amp; Covariance)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 err="1">
                <a:solidFill>
                  <a:srgbClr val="002060"/>
                </a:solidFill>
              </a:rPr>
              <a:t>Vx</a:t>
            </a:r>
            <a:r>
              <a:rPr lang="en-AU" sz="2000" dirty="0">
                <a:solidFill>
                  <a:srgbClr val="002060"/>
                </a:solidFill>
              </a:rPr>
              <a:t> and </a:t>
            </a:r>
            <a:r>
              <a:rPr lang="en-AU" sz="2000" b="1" dirty="0" err="1">
                <a:solidFill>
                  <a:srgbClr val="002060"/>
                </a:solidFill>
              </a:rPr>
              <a:t>Vy</a:t>
            </a:r>
            <a:r>
              <a:rPr lang="en-AU" sz="2000" dirty="0">
                <a:solidFill>
                  <a:srgbClr val="002060"/>
                </a:solidFill>
              </a:rPr>
              <a:t>, the mean error is close to zero and the error stays mostly within , which indicates good consistency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64908-3E51-D0CB-CF45-73ECC160D4E6}"/>
              </a:ext>
            </a:extLst>
          </p:cNvPr>
          <p:cNvSpPr txBox="1"/>
          <p:nvPr/>
        </p:nvSpPr>
        <p:spPr>
          <a:xfrm>
            <a:off x="6344141" y="3966526"/>
            <a:ext cx="58478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1" dirty="0" err="1">
                <a:solidFill>
                  <a:srgbClr val="002060"/>
                </a:solidFill>
              </a:rPr>
              <a:t>Vz</a:t>
            </a:r>
            <a:r>
              <a:rPr lang="en-AU" sz="2000" dirty="0">
                <a:solidFill>
                  <a:srgbClr val="002060"/>
                </a:solidFill>
              </a:rPr>
              <a:t>, </a:t>
            </a:r>
            <a:r>
              <a:rPr lang="en-AU" sz="2000" dirty="0">
                <a:solidFill>
                  <a:schemeClr val="accent6">
                    <a:lumMod val="50000"/>
                  </a:schemeClr>
                </a:solidFill>
              </a:rPr>
              <a:t>the error is larger and sometimes exceeds ±1σ during climb/descent transitions, showing vertical dynamics are harder to model and may need tuning (Q/R) or a richer model.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83099" y="6023255"/>
            <a:ext cx="8221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The ±1σ bound oscillates because covariance decreases at measurement updates and grows between updates</a:t>
            </a:r>
          </a:p>
        </p:txBody>
      </p:sp>
    </p:spTree>
    <p:extLst>
      <p:ext uri="{BB962C8B-B14F-4D97-AF65-F5344CB8AC3E}">
        <p14:creationId xmlns:p14="http://schemas.microsoft.com/office/powerpoint/2010/main" val="1607639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Future Work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7310" y="1879599"/>
            <a:ext cx="10018713" cy="3124201"/>
          </a:xfrm>
        </p:spPr>
        <p:txBody>
          <a:bodyPr>
            <a:normAutofit fontScale="92500"/>
          </a:bodyPr>
          <a:lstStyle/>
          <a:p>
            <a:r>
              <a:rPr lang="en-AU" dirty="0"/>
              <a:t>1. Extended </a:t>
            </a:r>
            <a:r>
              <a:rPr lang="en-AU" dirty="0" err="1"/>
              <a:t>Kalman</a:t>
            </a:r>
            <a:r>
              <a:rPr lang="en-AU" dirty="0"/>
              <a:t> Filter (15 states) - Add: Attitude (</a:t>
            </a:r>
            <a:r>
              <a:rPr lang="el-GR" dirty="0"/>
              <a:t>φ,θ,ψ) + </a:t>
            </a:r>
            <a:r>
              <a:rPr lang="en-AU" dirty="0"/>
              <a:t>IMU biases - Enable: Full IMU integration </a:t>
            </a:r>
          </a:p>
          <a:p>
            <a:r>
              <a:rPr lang="en-AU" dirty="0"/>
              <a:t>2. IMU integration for attitude estimation - Use accelerometer + gyroscope measurements - Complementary filter or EKF </a:t>
            </a:r>
          </a:p>
          <a:p>
            <a:r>
              <a:rPr lang="en-AU" dirty="0"/>
              <a:t>3. Magnetometer fusion for heading - Add </a:t>
            </a:r>
            <a:r>
              <a:rPr lang="el-GR" dirty="0"/>
              <a:t>ψ </a:t>
            </a:r>
            <a:r>
              <a:rPr lang="en-AU" dirty="0"/>
              <a:t>to state vector - Reduce heading drift </a:t>
            </a:r>
          </a:p>
          <a:p>
            <a:r>
              <a:rPr lang="en-AU" dirty="0"/>
              <a:t>4. Real flight test validation - Deploy on UAV platform - Compare with RTK-GPS ground truth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15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F0F10-512F-7DA6-A043-21C34C91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08751D95-C333-4DEB-90B4-1EAC9A91D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4062127" y="-15832"/>
            <a:ext cx="8129873" cy="6889518"/>
          </a:xfrm>
          <a:custGeom>
            <a:avLst/>
            <a:gdLst>
              <a:gd name="connsiteX0" fmla="*/ 0 w 8129873"/>
              <a:gd name="connsiteY0" fmla="*/ 0 h 6889518"/>
              <a:gd name="connsiteX1" fmla="*/ 0 w 8129873"/>
              <a:gd name="connsiteY1" fmla="*/ 6889518 h 6889518"/>
              <a:gd name="connsiteX2" fmla="*/ 6207942 w 8129873"/>
              <a:gd name="connsiteY2" fmla="*/ 6882299 h 6889518"/>
              <a:gd name="connsiteX3" fmla="*/ 8129873 w 8129873"/>
              <a:gd name="connsiteY3" fmla="*/ 5349831 h 6889518"/>
              <a:gd name="connsiteX4" fmla="*/ 7291674 w 8129873"/>
              <a:gd name="connsiteY4" fmla="*/ 7365 h 688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9873" h="6889518">
                <a:moveTo>
                  <a:pt x="0" y="0"/>
                </a:moveTo>
                <a:lnTo>
                  <a:pt x="0" y="6889518"/>
                </a:lnTo>
                <a:lnTo>
                  <a:pt x="6207942" y="6882299"/>
                </a:lnTo>
                <a:lnTo>
                  <a:pt x="8129873" y="5349831"/>
                </a:lnTo>
                <a:lnTo>
                  <a:pt x="7291674" y="7365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BA7535-3851-431E-BDA9-B4F6C1201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3893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2F07680B-461A-4AFC-808F-93216679A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8C864A04-25C0-4A5F-B6D4-F3859450A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F596D75-78C8-47A8-9225-7C64A6674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128D8641-4FEB-4878-B029-6CC4922EB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BB339737-0E88-4165-A752-9E204068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33AF255-B0DD-4D23-A3F2-DDB221BB1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7CF76-89D9-B109-6FD5-23EFDE808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0706" y="2218267"/>
            <a:ext cx="5154901" cy="262345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</a:rPr>
              <a:t>THANK  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A3E8A-00BD-5513-53B8-05250F8C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5028B7-E263-1612-A276-A78932EB1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ipartimento di Ingegneria Industriale - DII - UniversitÃ ...">
            <a:extLst>
              <a:ext uri="{FF2B5EF4-FFF2-40B4-BE49-F238E27FC236}">
                <a16:creationId xmlns:a16="http://schemas.microsoft.com/office/drawing/2014/main" id="{07272EBC-F19B-E545-977B-31C1CD8D9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1066800"/>
            <a:ext cx="728089" cy="57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600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27505</TotalTime>
  <Words>1523</Words>
  <Application>Microsoft Office PowerPoint</Application>
  <PresentationFormat>Widescreen</PresentationFormat>
  <Paragraphs>219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Cambria Math</vt:lpstr>
      <vt:lpstr>Corbel</vt:lpstr>
      <vt:lpstr>Helvetica Neue</vt:lpstr>
      <vt:lpstr>Parallax</vt:lpstr>
      <vt:lpstr>SYSTEMS FOR AUTONOMOUS AIRCRAFT FINAL PROJECT 2025-2026 AIRCRAFT NAVIGATION SYSTEM: CLIMB-CRUISE-DESCENT TRAJECTORY  </vt:lpstr>
      <vt:lpstr>PowerPoint Presentation</vt:lpstr>
      <vt:lpstr>PowerPoint Presentation</vt:lpstr>
      <vt:lpstr>Kinematic Transformations: Navigation vs. Body Frame</vt:lpstr>
      <vt:lpstr>Aircraft Trajectory cosine smoothing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6-State Kalman Filter: GPS + Barometer Fusion</vt:lpstr>
      <vt:lpstr>PowerPoint Presentation</vt:lpstr>
      <vt:lpstr>PowerPoint Presentation</vt:lpstr>
      <vt:lpstr>PowerPoint Presentation</vt:lpstr>
      <vt:lpstr>Kalman filter Error with Covariance  </vt:lpstr>
      <vt:lpstr>Future Work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FOR AUTONOMOUS AIRCRAFT FINAL PROJECT 2025-2026</dc:title>
  <dc:creator>ADITHYA ZACHARI VALAVI</dc:creator>
  <cp:lastModifiedBy>MUSTAFA CELALEDDIN ONER</cp:lastModifiedBy>
  <cp:revision>72</cp:revision>
  <dcterms:created xsi:type="dcterms:W3CDTF">2025-03-02T13:24:58Z</dcterms:created>
  <dcterms:modified xsi:type="dcterms:W3CDTF">2026-03-31T11:40:57Z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2025-03-03T11:04:36Z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fee99056-358c-48d9-9a55-ab26420c7ee7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